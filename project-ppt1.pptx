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86" r:id="rId2"/>
    <p:sldId id="260" r:id="rId3"/>
    <p:sldId id="257" r:id="rId4"/>
    <p:sldId id="321" r:id="rId5"/>
    <p:sldId id="322" r:id="rId6"/>
    <p:sldId id="324" r:id="rId7"/>
    <p:sldId id="325" r:id="rId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8/3/2026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br>
              <a:rPr lang="en-US" sz="1800" b="0" dirty="0">
                <a:solidFill>
                  <a:schemeClr val="tx1"/>
                </a:solidFill>
                <a:latin typeface="Times New Roman" pitchFamily="18" charset="0"/>
                <a:cs typeface="Times New Roman" pitchFamily="18" charset="0"/>
              </a:rPr>
            </a:br>
            <a:r>
              <a:rPr lang="en-IN" sz="3600" dirty="0">
                <a:solidFill>
                  <a:srgbClr val="FF0000"/>
                </a:solidFill>
              </a:rPr>
              <a:t>E-Commerce Customer Purchase Behaviour Analysis</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4572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Submitted by</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ANAHITA BHALME                       2420030708</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KARISHMA SUTHAR                     2420030384     </a:t>
            </a:r>
          </a:p>
          <a:p>
            <a:pPr>
              <a:lnSpc>
                <a:spcPct val="80000"/>
              </a:lnSpc>
              <a:defRPr/>
            </a:pPr>
            <a:r>
              <a:rPr lang="en-US" sz="3300" dirty="0">
                <a:solidFill>
                  <a:srgbClr val="0D0D0D"/>
                </a:solidFill>
                <a:latin typeface="Times New Roman" pitchFamily="18" charset="0"/>
                <a:cs typeface="Times New Roman" pitchFamily="18" charset="0"/>
              </a:rPr>
              <a:t>BEJAGAMA ANUPAMA                  2420030575</a:t>
            </a: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endParaRPr lang="en-US" sz="29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Esteemed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2900" dirty="0" err="1">
                <a:solidFill>
                  <a:srgbClr val="0D0D0D"/>
                </a:solidFill>
                <a:latin typeface="Times New Roman" pitchFamily="18" charset="0"/>
                <a:cs typeface="Times New Roman" pitchFamily="18" charset="0"/>
              </a:rPr>
              <a:t>Garimidi</a:t>
            </a:r>
            <a:r>
              <a:rPr lang="en-US" sz="2900" dirty="0">
                <a:solidFill>
                  <a:srgbClr val="0D0D0D"/>
                </a:solidFill>
                <a:latin typeface="Times New Roman" pitchFamily="18" charset="0"/>
                <a:cs typeface="Times New Roman" pitchFamily="18" charset="0"/>
              </a:rPr>
              <a:t> Siva Sree Ma’am </a:t>
            </a:r>
          </a:p>
          <a:p>
            <a:pPr marR="0" algn="ctr" eaLnBrk="1" hangingPunct="1">
              <a:lnSpc>
                <a:spcPct val="80000"/>
              </a:lnSpc>
              <a:defRPr/>
            </a:pPr>
            <a:endParaRPr lang="en-US" sz="21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100" b="1" dirty="0">
                <a:solidFill>
                  <a:srgbClr val="00B0F0"/>
                </a:solidFill>
                <a:latin typeface="Times New Roman" pitchFamily="18" charset="0"/>
                <a:cs typeface="Times New Roman" pitchFamily="18" charset="0"/>
              </a:rPr>
              <a:t>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pic>
        <p:nvPicPr>
          <p:cNvPr id="6" name="Picture 5" descr="KL University - KL University added a ...">
            <a:extLst>
              <a:ext uri="{FF2B5EF4-FFF2-40B4-BE49-F238E27FC236}">
                <a16:creationId xmlns:a16="http://schemas.microsoft.com/office/drawing/2014/main" id="{8B4420B0-BB20-16A1-F7D6-B73E3C6F4D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398" y="4114800"/>
            <a:ext cx="1248202" cy="1253046"/>
          </a:xfrm>
          <a:prstGeom prst="rect">
            <a:avLst/>
          </a:prstGeom>
          <a:noFill/>
          <a:ln>
            <a:noFill/>
          </a:ln>
        </p:spPr>
      </p:pic>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lstStyle/>
          <a:p>
            <a:r>
              <a:rPr lang="en-US"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624101" y="2179637"/>
            <a:ext cx="8839200" cy="4678363"/>
          </a:xfrm>
        </p:spPr>
        <p:txBody>
          <a:bodyPr>
            <a:normAutofit/>
          </a:bodyPr>
          <a:lstStyle/>
          <a:p>
            <a:r>
              <a:rPr lang="en-US" sz="2000" dirty="0">
                <a:latin typeface="Times New Roman" pitchFamily="18" charset="0"/>
                <a:cs typeface="Times New Roman" pitchFamily="18" charset="0"/>
              </a:rPr>
              <a:t>Introduction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Problem Statement</a:t>
            </a:r>
          </a:p>
          <a:p>
            <a:endParaRPr lang="en-US" sz="2000" dirty="0">
              <a:latin typeface="Times New Roman" pitchFamily="18" charset="0"/>
              <a:cs typeface="Times New Roman" pitchFamily="18" charset="0"/>
            </a:endParaRPr>
          </a:p>
          <a:p>
            <a:r>
              <a:rPr lang="en-IN" sz="2000" dirty="0"/>
              <a:t>Data Collection Sources</a:t>
            </a:r>
          </a:p>
          <a:p>
            <a:endParaRPr lang="en-US" sz="2000" dirty="0">
              <a:latin typeface="Times New Roman" pitchFamily="18" charset="0"/>
              <a:cs typeface="Times New Roman" pitchFamily="18" charset="0"/>
            </a:endParaRPr>
          </a:p>
          <a:p>
            <a:r>
              <a:rPr lang="en-IN" sz="2000" dirty="0"/>
              <a:t>Proposed Analysis &amp; Expected Outcomes</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p>
        </p:txBody>
      </p:sp>
      <p:pic>
        <p:nvPicPr>
          <p:cNvPr id="4" name="Picture 3" descr="KL University - KL University added a ...">
            <a:extLst>
              <a:ext uri="{FF2B5EF4-FFF2-40B4-BE49-F238E27FC236}">
                <a16:creationId xmlns:a16="http://schemas.microsoft.com/office/drawing/2014/main" id="{154AAD93-F561-3EB7-AC6D-1CA95D4F33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48202" cy="12530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a:bodyPr>
          <a:lstStyle/>
          <a:p>
            <a:r>
              <a:rPr lang="en-IN" sz="2000" dirty="0"/>
              <a:t>The rapid growth of e-commerce platforms has resulted in the generation of large amounts of customer purchase data. This data contains valuable information about customer demographics, purchasing patterns, product preferences, spending behaviour, and transaction history.</a:t>
            </a:r>
          </a:p>
          <a:p>
            <a:endParaRPr lang="en-IN" sz="2000" dirty="0"/>
          </a:p>
          <a:p>
            <a:r>
              <a:rPr lang="en-IN" sz="2000" dirty="0" err="1"/>
              <a:t>Analyzing</a:t>
            </a:r>
            <a:r>
              <a:rPr lang="en-IN" sz="2000" dirty="0"/>
              <a:t> this data can help businesses understand </a:t>
            </a:r>
            <a:r>
              <a:rPr lang="en-IN" sz="2000" b="1" dirty="0"/>
              <a:t>what customers purchase, how frequently they purchase, and which factors influence their buying behaviour</a:t>
            </a:r>
            <a:r>
              <a:rPr lang="en-IN" sz="2000" dirty="0"/>
              <a:t>.</a:t>
            </a:r>
          </a:p>
          <a:p>
            <a:endParaRPr lang="en-IN" sz="2000" dirty="0"/>
          </a:p>
          <a:p>
            <a:r>
              <a:rPr lang="en-IN" sz="2000" dirty="0"/>
              <a:t>Through data analytics and visualization, raw e-commerce data can be transformed into meaningful insights that support better business decisions.</a:t>
            </a:r>
          </a:p>
          <a:p>
            <a:endParaRPr lang="en-US" sz="2800" dirty="0"/>
          </a:p>
        </p:txBody>
      </p:sp>
      <p:pic>
        <p:nvPicPr>
          <p:cNvPr id="6" name="Picture 5" descr="KL University - KL University added a ...">
            <a:extLst>
              <a:ext uri="{FF2B5EF4-FFF2-40B4-BE49-F238E27FC236}">
                <a16:creationId xmlns:a16="http://schemas.microsoft.com/office/drawing/2014/main" id="{A59DFFC1-13AF-F3B2-ABCD-6CC4E2EAEE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21" y="0"/>
            <a:ext cx="1248202" cy="12530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a:bodyPr>
          <a:lstStyle/>
          <a:p>
            <a:r>
              <a:rPr lang="en-IN" sz="2000" dirty="0"/>
              <a:t>E-commerce businesses collect large volumes of customer transaction data, but raw data alone does not provide clear insights into customer purchasing behaviour.</a:t>
            </a:r>
          </a:p>
          <a:p>
            <a:r>
              <a:rPr lang="en-IN" sz="2000" dirty="0"/>
              <a:t>The problem is to </a:t>
            </a:r>
            <a:r>
              <a:rPr lang="en-IN" sz="2000" b="1" dirty="0" err="1"/>
              <a:t>analyze</a:t>
            </a:r>
            <a:r>
              <a:rPr lang="en-IN" sz="2000" b="1" dirty="0"/>
              <a:t> and visualize e-commerce customer purchase data to identify patterns and trends in customer behaviour</a:t>
            </a:r>
            <a:r>
              <a:rPr lang="en-IN" sz="2000" dirty="0"/>
              <a:t>, including:</a:t>
            </a:r>
          </a:p>
          <a:p>
            <a:pPr lvl="0"/>
            <a:r>
              <a:rPr lang="en-IN" sz="2000" dirty="0"/>
              <a:t>Customer spending patterns </a:t>
            </a:r>
          </a:p>
          <a:p>
            <a:pPr lvl="0"/>
            <a:r>
              <a:rPr lang="en-IN" sz="2000" dirty="0"/>
              <a:t>Purchase frequency </a:t>
            </a:r>
          </a:p>
          <a:p>
            <a:pPr lvl="0"/>
            <a:r>
              <a:rPr lang="en-IN" sz="2000" dirty="0"/>
              <a:t>Popular product categories </a:t>
            </a:r>
          </a:p>
          <a:p>
            <a:pPr lvl="0"/>
            <a:r>
              <a:rPr lang="en-IN" sz="2000" dirty="0"/>
              <a:t>Demographic-based purchasing behaviour </a:t>
            </a:r>
          </a:p>
          <a:p>
            <a:pPr lvl="0"/>
            <a:r>
              <a:rPr lang="en-IN" sz="2000" dirty="0"/>
              <a:t>High-value and frequent customers </a:t>
            </a:r>
          </a:p>
          <a:p>
            <a:pPr lvl="0"/>
            <a:r>
              <a:rPr lang="en-IN" sz="2000" dirty="0"/>
              <a:t>Factors influencing customer purchases</a:t>
            </a:r>
          </a:p>
          <a:p>
            <a:endParaRPr lang="en-US" sz="2400" dirty="0"/>
          </a:p>
        </p:txBody>
      </p:sp>
      <p:pic>
        <p:nvPicPr>
          <p:cNvPr id="6" name="Picture 5" descr="KL University - KL University added a ...">
            <a:extLst>
              <a:ext uri="{FF2B5EF4-FFF2-40B4-BE49-F238E27FC236}">
                <a16:creationId xmlns:a16="http://schemas.microsoft.com/office/drawing/2014/main" id="{6B3E532B-262E-C51E-B262-51474FA409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0"/>
            <a:ext cx="1248202" cy="1253046"/>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p:txBody>
          <a:bodyPr>
            <a:normAutofit fontScale="90000"/>
          </a:bodyPr>
          <a:lstStyle/>
          <a:p>
            <a:r>
              <a:rPr lang="en-IN" b="1" dirty="0">
                <a:solidFill>
                  <a:schemeClr val="accent1"/>
                </a:solidFill>
                <a:latin typeface="Times New Roman" panose="02020603050405020304" pitchFamily="18" charset="0"/>
                <a:cs typeface="Times New Roman" panose="02020603050405020304" pitchFamily="18" charset="0"/>
              </a:rPr>
              <a:t>Data Collection Sources</a:t>
            </a:r>
            <a:br>
              <a:rPr lang="en-US" b="1" dirty="0">
                <a:solidFill>
                  <a:srgbClr val="0070C0"/>
                </a:solidFill>
                <a:latin typeface="Times New Roman" panose="02020603050405020304" pitchFamily="18" charset="0"/>
                <a:cs typeface="Times New Roman" pitchFamily="18" charset="0"/>
              </a:rPr>
            </a:br>
            <a:endParaRPr lang="en-US" b="1" dirty="0">
              <a:solidFill>
                <a:srgbClr val="0070C0"/>
              </a:solidFill>
              <a:latin typeface="Times New Roman" panose="02020603050405020304"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48456" y="2514600"/>
            <a:ext cx="8229600" cy="4525963"/>
          </a:xfrm>
        </p:spPr>
        <p:txBody>
          <a:bodyPr>
            <a:normAutofit/>
          </a:bodyPr>
          <a:lstStyle/>
          <a:p>
            <a:r>
              <a:rPr lang="en-IN" sz="2000" dirty="0"/>
              <a:t>Kaggle Datasets</a:t>
            </a:r>
          </a:p>
          <a:p>
            <a:endParaRPr lang="en-IN" sz="2000" dirty="0"/>
          </a:p>
          <a:p>
            <a:r>
              <a:rPr lang="en-IN" sz="2000" dirty="0"/>
              <a:t>2. UCI Machine Learning Repository</a:t>
            </a:r>
          </a:p>
          <a:p>
            <a:endParaRPr lang="en-IN" sz="2000" dirty="0"/>
          </a:p>
          <a:p>
            <a:r>
              <a:rPr lang="en-IN" sz="2000" dirty="0"/>
              <a:t>Public E-Commerce Datasets</a:t>
            </a:r>
            <a:endParaRPr lang="en-US" sz="2000" dirty="0"/>
          </a:p>
        </p:txBody>
      </p:sp>
      <p:pic>
        <p:nvPicPr>
          <p:cNvPr id="3" name="Picture 2" descr="KL University - KL University added a ...">
            <a:extLst>
              <a:ext uri="{FF2B5EF4-FFF2-40B4-BE49-F238E27FC236}">
                <a16:creationId xmlns:a16="http://schemas.microsoft.com/office/drawing/2014/main" id="{27453570-3BFE-3A77-1CEE-43D49BE1A5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48202" cy="1253046"/>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p:txBody>
          <a:bodyPr>
            <a:normAutofit fontScale="90000"/>
          </a:bodyPr>
          <a:lstStyle/>
          <a:p>
            <a:r>
              <a:rPr lang="en-US" sz="4000" b="1" dirty="0">
                <a:solidFill>
                  <a:srgbClr val="0070C0"/>
                </a:solidFill>
                <a:latin typeface="Times New Roman" pitchFamily="18" charset="0"/>
                <a:cs typeface="Times New Roman" pitchFamily="18" charset="0"/>
              </a:rPr>
              <a:t>  Expected outcome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40FBC77B-CEAB-9653-1880-4D24644C8751}"/>
              </a:ext>
            </a:extLst>
          </p:cNvPr>
          <p:cNvSpPr>
            <a:spLocks noGrp="1"/>
          </p:cNvSpPr>
          <p:nvPr>
            <p:ph idx="1"/>
          </p:nvPr>
        </p:nvSpPr>
        <p:spPr/>
        <p:txBody>
          <a:bodyPr>
            <a:normAutofit fontScale="62500" lnSpcReduction="20000"/>
          </a:bodyPr>
          <a:lstStyle/>
          <a:p>
            <a:r>
              <a:rPr lang="en-IN" b="1" dirty="0"/>
              <a:t>Data Analysis:</a:t>
            </a:r>
            <a:endParaRPr lang="en-IN" dirty="0"/>
          </a:p>
          <a:p>
            <a:pPr lvl="0"/>
            <a:r>
              <a:rPr lang="en-IN" dirty="0"/>
              <a:t>Data cleaning and preprocessing </a:t>
            </a:r>
          </a:p>
          <a:p>
            <a:pPr lvl="0"/>
            <a:r>
              <a:rPr lang="en-IN" dirty="0"/>
              <a:t>Exploratory Data Analysis (EDA) </a:t>
            </a:r>
          </a:p>
          <a:p>
            <a:pPr lvl="0"/>
            <a:r>
              <a:rPr lang="en-IN" dirty="0"/>
              <a:t>Customer demographic analysis </a:t>
            </a:r>
          </a:p>
          <a:p>
            <a:pPr lvl="0"/>
            <a:r>
              <a:rPr lang="en-IN" dirty="0"/>
              <a:t>Product category analysis </a:t>
            </a:r>
          </a:p>
          <a:p>
            <a:pPr lvl="0"/>
            <a:r>
              <a:rPr lang="en-IN" dirty="0"/>
              <a:t>Purchase and spending pattern analysis </a:t>
            </a:r>
          </a:p>
          <a:p>
            <a:pPr lvl="0"/>
            <a:r>
              <a:rPr lang="en-IN" dirty="0"/>
              <a:t>Data visualization using charts and graphs </a:t>
            </a:r>
          </a:p>
          <a:p>
            <a:r>
              <a:rPr lang="en-IN" b="1" dirty="0"/>
              <a:t>Tools:</a:t>
            </a:r>
            <a:endParaRPr lang="en-IN" dirty="0"/>
          </a:p>
          <a:p>
            <a:pPr lvl="0"/>
            <a:r>
              <a:rPr lang="en-IN" dirty="0"/>
              <a:t>Python </a:t>
            </a:r>
          </a:p>
          <a:p>
            <a:pPr lvl="0"/>
            <a:r>
              <a:rPr lang="en-IN" dirty="0"/>
              <a:t>Pandas </a:t>
            </a:r>
          </a:p>
          <a:p>
            <a:pPr lvl="0"/>
            <a:r>
              <a:rPr lang="en-IN" dirty="0"/>
              <a:t>NumPy </a:t>
            </a:r>
          </a:p>
          <a:p>
            <a:pPr lvl="0"/>
            <a:r>
              <a:rPr lang="en-IN" dirty="0"/>
              <a:t>Matplotlib </a:t>
            </a:r>
          </a:p>
          <a:p>
            <a:pPr lvl="0"/>
            <a:r>
              <a:rPr lang="en-IN" dirty="0"/>
              <a:t>Seaborn </a:t>
            </a:r>
          </a:p>
          <a:p>
            <a:pPr lvl="0"/>
            <a:r>
              <a:rPr lang="en-IN" dirty="0"/>
              <a:t>Jupyter Notebook / Google </a:t>
            </a:r>
            <a:r>
              <a:rPr lang="en-IN" dirty="0" err="1"/>
              <a:t>Colab</a:t>
            </a:r>
            <a:endParaRPr lang="en-IN" dirty="0"/>
          </a:p>
        </p:txBody>
      </p:sp>
      <p:pic>
        <p:nvPicPr>
          <p:cNvPr id="3" name="Picture 2" descr="KL University - KL University added a ...">
            <a:extLst>
              <a:ext uri="{FF2B5EF4-FFF2-40B4-BE49-F238E27FC236}">
                <a16:creationId xmlns:a16="http://schemas.microsoft.com/office/drawing/2014/main" id="{D8235238-4868-4893-E0D5-8AFC826B0F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5" y="115809"/>
            <a:ext cx="990600" cy="994444"/>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ED9BB-D32C-006B-803B-51E1AD1F5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5D7FF-B819-0977-B419-96F15F0126BC}"/>
              </a:ext>
            </a:extLst>
          </p:cNvPr>
          <p:cNvSpPr>
            <a:spLocks noGrp="1"/>
          </p:cNvSpPr>
          <p:nvPr>
            <p:ph type="title"/>
          </p:nvPr>
        </p:nvSpPr>
        <p:spPr/>
        <p:txBody>
          <a:bodyPr>
            <a:normAutofit fontScale="90000"/>
          </a:bodyPr>
          <a:lstStyle/>
          <a:p>
            <a:r>
              <a:rPr lang="en-US" sz="4000" b="1" dirty="0">
                <a:solidFill>
                  <a:srgbClr val="0070C0"/>
                </a:solidFill>
                <a:latin typeface="Times New Roman" pitchFamily="18" charset="0"/>
                <a:cs typeface="Times New Roman" pitchFamily="18" charset="0"/>
              </a:rPr>
              <a:t>  Expected outcome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AA32E264-1E82-13B3-2D63-85ABEC28C851}"/>
              </a:ext>
            </a:extLst>
          </p:cNvPr>
          <p:cNvSpPr>
            <a:spLocks noGrp="1"/>
          </p:cNvSpPr>
          <p:nvPr>
            <p:ph idx="1"/>
          </p:nvPr>
        </p:nvSpPr>
        <p:spPr/>
        <p:txBody>
          <a:bodyPr>
            <a:normAutofit/>
          </a:bodyPr>
          <a:lstStyle/>
          <a:p>
            <a:endParaRPr lang="en-IN" sz="2000" b="1" dirty="0"/>
          </a:p>
          <a:p>
            <a:r>
              <a:rPr lang="en-IN" sz="2000" b="1" dirty="0"/>
              <a:t>Expected Outcomes:</a:t>
            </a:r>
          </a:p>
          <a:p>
            <a:endParaRPr lang="en-IN" sz="2000" b="1" dirty="0"/>
          </a:p>
          <a:p>
            <a:endParaRPr lang="en-IN" sz="2000" dirty="0"/>
          </a:p>
          <a:p>
            <a:pPr lvl="0"/>
            <a:r>
              <a:rPr lang="en-IN" sz="2000" dirty="0"/>
              <a:t>Identify popular product categories </a:t>
            </a:r>
          </a:p>
          <a:p>
            <a:pPr lvl="0"/>
            <a:r>
              <a:rPr lang="en-IN" sz="2000" dirty="0"/>
              <a:t>Understand customer spending behaviour </a:t>
            </a:r>
          </a:p>
          <a:p>
            <a:pPr lvl="0"/>
            <a:r>
              <a:rPr lang="en-IN" sz="2000" dirty="0"/>
              <a:t>Identify high-value customer segments </a:t>
            </a:r>
          </a:p>
          <a:p>
            <a:pPr lvl="0"/>
            <a:r>
              <a:rPr lang="en-IN" sz="2000" dirty="0"/>
              <a:t>Discover relationships between demographics and purchases </a:t>
            </a:r>
          </a:p>
          <a:p>
            <a:pPr lvl="0"/>
            <a:r>
              <a:rPr lang="en-IN" sz="2000" dirty="0"/>
              <a:t>Generate actionable business insights</a:t>
            </a:r>
          </a:p>
        </p:txBody>
      </p:sp>
      <p:pic>
        <p:nvPicPr>
          <p:cNvPr id="3" name="Picture 2" descr="KL University - KL University added a ...">
            <a:extLst>
              <a:ext uri="{FF2B5EF4-FFF2-40B4-BE49-F238E27FC236}">
                <a16:creationId xmlns:a16="http://schemas.microsoft.com/office/drawing/2014/main" id="{AE06C051-06DE-5119-F7C5-BEC6F98377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5" y="115809"/>
            <a:ext cx="990600" cy="994444"/>
          </a:xfrm>
          <a:prstGeom prst="rect">
            <a:avLst/>
          </a:prstGeom>
          <a:noFill/>
          <a:ln>
            <a:noFill/>
          </a:ln>
        </p:spPr>
      </p:pic>
    </p:spTree>
    <p:extLst>
      <p:ext uri="{BB962C8B-B14F-4D97-AF65-F5344CB8AC3E}">
        <p14:creationId xmlns:p14="http://schemas.microsoft.com/office/powerpoint/2010/main" val="2868820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1809</TotalTime>
  <Words>357</Words>
  <Application>Microsoft Office PowerPoint</Application>
  <PresentationFormat>On-screen Show (4:3)</PresentationFormat>
  <Paragraphs>74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Times New Roman</vt:lpstr>
      <vt:lpstr>Office Theme</vt:lpstr>
      <vt:lpstr>  E-Commerce Customer Purchase Behaviour Analysis  </vt:lpstr>
      <vt:lpstr>Outline of the presentation</vt:lpstr>
      <vt:lpstr>Introduction</vt:lpstr>
      <vt:lpstr>Problem Statement </vt:lpstr>
      <vt:lpstr>Data Collection Sources </vt:lpstr>
      <vt:lpstr>  Expected outcome of the proposed work </vt:lpstr>
      <vt:lpstr>  Expected outcome of the proposed work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Anahita Bhalme</cp:lastModifiedBy>
  <cp:revision>189</cp:revision>
  <dcterms:created xsi:type="dcterms:W3CDTF">2006-08-16T00:00:00Z</dcterms:created>
  <dcterms:modified xsi:type="dcterms:W3CDTF">2026-08-03T03:01:20Z</dcterms:modified>
</cp:coreProperties>
</file>